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PERFORMANCE PREDICTION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Propagation in Machine Learning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Interactive Educational Deep Dive into Feed-Forward Neural Networks, ReLU Activations &amp; Softmax Classifications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4297680"/>
            <a:ext cx="10332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4480560"/>
            <a:ext cx="9784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Domain: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 / Neural Networks / Educational Demonstration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Inputs (Attendance, Marks, Study Hours) → 4 Hidden (ReLU) → 2 Outputs (Softmax)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Scope: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 Multiplication, Biases, Activation Functions &amp; Numerical Stability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PROJECT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Introduction, Problem Statement &amp; Project Objectives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3832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</a:rPr>
              <a:t>Problem Statement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301752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93B"/>
                </a:solidFill>
              </a:rPr>
              <a:t>• Black-Box Misconception: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Beginners frequently view neural networks as opaque black boxes without understanding inner vector mathematics.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93B"/>
                </a:solidFill>
              </a:rPr>
              <a:t>• Abstract Teaching: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Academic textbooks often state equations without showing exact matrix transformations on concrete numbers.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93B"/>
                </a:solidFill>
              </a:rPr>
              <a:t>• Need for Transparency: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Students need clear, verifiable step-by-step arithmetic from raw academic attributes to probability distributions.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463040"/>
            <a:ext cx="33832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6459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</a:rPr>
              <a:t>Core Objectives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0" y="2103120"/>
            <a:ext cx="301752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93B"/>
                </a:solidFill>
              </a:rPr>
              <a:t>• Transparent Implementation: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Build a multi-layer perceptron running pure forward propagation with documented weights and biases.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93B"/>
                </a:solidFill>
              </a:rPr>
              <a:t>• Step-by-Step Visualization: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Provide a real-time reactive interface displaying intermediate sums, ReLU clipping, and Softmax logs.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93B"/>
                </a:solidFill>
              </a:rPr>
              <a:t>• Dual Precision Display: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Present rounded whole-number views for intuitive comprehension while maintaining full floating-point precision.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463040"/>
            <a:ext cx="33832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6459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</a:rPr>
              <a:t>Educational Boundaries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0" y="2103120"/>
            <a:ext cx="301752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93B"/>
                </a:solidFill>
              </a:rPr>
              <a:t>• Illustrative Network: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Employs carefully calibrated pedagogical weights designed to illustrate mathematical principles.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93B"/>
                </a:solidFill>
              </a:rPr>
              <a:t>• Explicit Disclaimers: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No fabricated training metrics, false accuracies, or synthetic clinical claims.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93B"/>
                </a:solidFill>
              </a:rPr>
              <a:t>• Foundation for ML: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Prepares learners for advanced concepts like Backpropagation, Gradient Descent, and Loss Functions.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NEURAL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System Architecture: 3-Layer Feed-Forward Topology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984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1828800"/>
            <a:ext cx="2926080" cy="38404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20116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INPUT LAYER (x ∈ ℝ³)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463040" y="256032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2560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x₁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94560" y="2651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Attendance (0–100%)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63040" y="347472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3474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x₂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94560" y="3566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Exam Marks (0–100)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463040" y="438912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1463040" y="4389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x₃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194560" y="44805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Study Hours (0–12 h/d)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1828800"/>
            <a:ext cx="3200400" cy="38404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011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A34A"/>
                </a:solidFill>
              </a:rPr>
              <a:t>HIDDEN LAYER (4 Neurons + ReLU)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46320" y="2468880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0" y="25603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h₁: Academic Aptitude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3200400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3200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0" y="32918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h₂: Consistency &amp; Effort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3931920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0" y="40233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h₃: At-Risk Pattern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4663440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4663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0" y="4754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h₄: Baseline Competence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321040" y="1828800"/>
            <a:ext cx="2834640" cy="38404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20116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OUTPUT LAYER (Softmax)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595360" y="2926080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3" name="Text 31"/>
          <p:cNvSpPr/>
          <p:nvPr/>
        </p:nvSpPr>
        <p:spPr>
          <a:xfrm>
            <a:off x="8595360" y="2926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y₁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326880" y="30175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PASS Probability (%)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595360" y="4023360"/>
            <a:ext cx="640080" cy="64008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4"/>
          <p:cNvSpPr/>
          <p:nvPr/>
        </p:nvSpPr>
        <p:spPr>
          <a:xfrm>
            <a:off x="8595360" y="4023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y₂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326880" y="41148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</a:rPr>
              <a:t>FAIL Probability (%)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MATHEMATICAL FORMULATION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Forward Propagation Workflow with Explicit Formulas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4688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STEP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Linear Combinations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468880"/>
            <a:ext cx="2103120" cy="1005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560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z_hidden = W₁ · X + b₁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657600"/>
            <a:ext cx="21031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Dot product of inputs (X) and weight matrix (W₁) plus bias vector (b₁). Computes pre-activation logits.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463040"/>
            <a:ext cx="24688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1645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STEP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19202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ReLU Non-Linearity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0" y="2468880"/>
            <a:ext cx="2103120" cy="1005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4" name="Text 12"/>
          <p:cNvSpPr/>
          <p:nvPr/>
        </p:nvSpPr>
        <p:spPr>
          <a:xfrm>
            <a:off x="3703320" y="2560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a = max(0, z_hidden)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0" y="3657600"/>
            <a:ext cx="21031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Rectified Linear Unit zeroes out negative responses, introducing non-linear feature representation.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463040"/>
            <a:ext cx="24688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1645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STEP 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19202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Output Affine Map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0" y="2468880"/>
            <a:ext cx="2103120" cy="1005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46520" y="2560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z_out = W₂ · a + b₂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3657600"/>
            <a:ext cx="21031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Second linear transformation weighting activated hidden neurons into PASS and FAIL output logits.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61120" y="1463040"/>
            <a:ext cx="24688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0" y="1645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STEP 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0" y="19202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Numerically Stable Softmax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44000" y="2468880"/>
            <a:ext cx="2103120" cy="1005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89720" y="2560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P(y_i) = e^(z_i - max(z)) / Σ e^(z_j - max(z))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44000" y="3657600"/>
            <a:ext cx="21031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Converts unconstrained real-valued logits into normalized probability distribution summing to 1.0 (100%).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INPUT DATA SPECIFICATION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Student Input Example: Attendance, Marks &amp; Study Hours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12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Feature Parameter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05840" y="2194560"/>
            <a:ext cx="466344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2860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Student Attendance (Default: 85%)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260604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Valid Range: 0% – 100% | Measures classroom discipline, consistency and engagement.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05840" y="3383280"/>
            <a:ext cx="466344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47472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Exam Marks (Default: 70)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379476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Valid Range: 0 – 100 | Represents academic knowledge mastery on summative evaluations.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05840" y="4572000"/>
            <a:ext cx="466344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46634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Daily Study Hours (Default: 4 hrs)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498348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Valid Range: 0 – 12 hrs/day | Indicates individual preparation time outside mandatory lecture periods.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Demonstration Test Profiles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92240" y="2103120"/>
            <a:ext cx="46634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21762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Profile A: High Achiever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240487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Attendance: 95% | Marks: 90 | Study: 8 hrs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75120" y="263347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PASS 99.86% | FAIL 0.14%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92240" y="3063240"/>
            <a:ext cx="46634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313639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Profile B: Default Benchmark Student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675120" y="336499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Attendance: 85% | Marks: 70 | Study: 4 hrs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75120" y="359359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PASS 98.67% | FAIL 1.33%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92240" y="4023360"/>
            <a:ext cx="46634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0" y="40965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Profile C: At-Risk / Borderline Student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675120" y="432511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Attendance: 45% | Marks: 38 | Study: 1 hr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675120" y="455371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</a:rPr>
              <a:t>PASS 52.74% | FAIL 47.26%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92240" y="4983480"/>
            <a:ext cx="46634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0" y="505663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Profile D: Underperforming Student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675120" y="528523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Attendance: 30% | Marks: 25 | Study: 1 hr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75120" y="551383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PASS 24.48% | FAIL 75.52%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STEP-BY-STEP CALCULATION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</a:rPr>
              <a:t>Worked Numerical Example (Default Student: Att=85, Marks=70, Study=4)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43891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1. Hidden Layer (W₁ · X + b₁) &amp; ReLU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40233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293B"/>
                </a:solidFill>
              </a:rPr>
              <a:t>Neuron h₁ (Academic Aptitude):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E293B"/>
                </a:solidFill>
              </a:rPr>
              <a:t>z₁ = (0.020×85) + (0.030×70) + (0.080×4) - 2.20 = 1.9200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6A34A"/>
                </a:solidFill>
              </a:rPr>
              <a:t>a₁ = ReLU(1.9200) = 1.9200 (Rounded: 2)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293B"/>
                </a:solidFill>
              </a:rPr>
              <a:t>Neuron h₂ (Consistency &amp; Effort):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E293B"/>
                </a:solidFill>
              </a:rPr>
              <a:t>z₂ = (0.025×85) + (0.015×70) + (0.100×4) - 1.80 = 1.7750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6A34A"/>
                </a:solidFill>
              </a:rPr>
              <a:t>a₂ = ReLU(1.7750) = 1.7750 (Rounded: 2)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293B"/>
                </a:solidFill>
              </a:rPr>
              <a:t>Neuron h₃ (At-Risk Pattern):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E293B"/>
                </a:solidFill>
              </a:rPr>
              <a:t>z₃ = (-0.025×85) + (-0.035×70) + (-0.060×4) + 2.60 = -2.2150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DC2626"/>
                </a:solidFill>
              </a:rPr>
              <a:t>a₃ = ReLU(-2.2150) = 0.0000 (Deactivated / Clipped)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293B"/>
                </a:solidFill>
              </a:rPr>
              <a:t>Neuron h₄ (Baseline Competence):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E293B"/>
                </a:solidFill>
              </a:rPr>
              <a:t>z₄ = (0.010×85) + (0.015×70) + (0.040×4) - 1.00 = 1.0600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6A34A"/>
                </a:solidFill>
              </a:rPr>
              <a:t>a₄ = ReLU(1.0600) = 1.0600 (Rounded: 1)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94960" y="1463040"/>
            <a:ext cx="31089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7784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2. Output Logits (W₂ · a + b₂)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77840" y="2011680"/>
            <a:ext cx="27432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293B"/>
                </a:solidFill>
              </a:rPr>
              <a:t>Pass Logit (z_pass):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E293B"/>
                </a:solidFill>
              </a:rPr>
              <a:t>= (0.55 × 1.9200)
  + (0.45 × 1.7750)
  + (-0.70 × 0.0000)
  + (0.30 × 1.0600) + 0.10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E293B"/>
                </a:solidFill>
              </a:rPr>
              <a:t>= 1.056 + 0.7988 + 0 + 0.318 + 0.10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6A34A"/>
                </a:solidFill>
              </a:rPr>
              <a:t>= 2.2727 (Rounded: 2)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293B"/>
                </a:solidFill>
              </a:rPr>
              <a:t>Fail Logit (z_fail):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E293B"/>
                </a:solidFill>
              </a:rPr>
              <a:t>= (-0.50 × 1.9200)
  + (-0.40 × 1.7750)
  + (0.75 × 0.0000)
  + (-0.25 × 1.0600) - 0.10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E293B"/>
                </a:solidFill>
              </a:rPr>
              <a:t>= -0.96 - 0.71 - 0 - 0.265 - 0.10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DC2626"/>
                </a:solidFill>
              </a:rPr>
              <a:t>= -2.0350 (Rounded: -2)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778240" y="1463040"/>
            <a:ext cx="26517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0" y="16459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3. Softmax &amp; Result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961120" y="2011680"/>
            <a:ext cx="22860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293B"/>
                </a:solidFill>
              </a:rPr>
              <a:t>Shift by max(z) = 2.2727: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E293B"/>
                </a:solidFill>
              </a:rPr>
              <a:t>e^(2.2727 - 2.2727) = e^0 = 1.0000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E293B"/>
                </a:solidFill>
              </a:rPr>
              <a:t>e^(-2.0350 - 2.2727) = e^(-4.3077)
= 0.01346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293B"/>
                </a:solidFill>
              </a:rPr>
              <a:t>Sum of Exponents: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E293B"/>
                </a:solidFill>
              </a:rPr>
              <a:t>Σ = 1.0000 + 0.0135 = 1.0135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293B"/>
                </a:solidFill>
              </a:rPr>
              <a:t>Final Probabilities: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6A34A"/>
                </a:solidFill>
              </a:rPr>
              <a:t>PASS = 1.0000 / 1.0135
= 98.67%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DC2626"/>
                </a:solidFill>
              </a:rPr>
              <a:t>FAIL = 0.0135 / 1.0135
= 1.33%
</a:t>
            </a:r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16A34A"/>
                </a:solidFill>
              </a:rPr>
              <a:t>PREDICTED: PASS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PRACTICAL IMPLICATIONS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Website Demonstration, Applications, Advantages &amp; Limitations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459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Interactive Web Platform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205740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• Responsive Vite + React + TypeScript web application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• Instant dynamic calculations upon any input adjustment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• Interactive SVG neural network diagram with layer nodes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• Dual-view toggle: integer rounded vs exact raw decimals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6459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Educational Applications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92240" y="205740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• Undergraduate artificial intelligence &amp; machine learning lectures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• Classroom visualization of matrix transformations and dot products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• Intuitive demonstration of activation function thresholding (ReLU)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• Concrete hands-on preparation for studying backpropagation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84048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02336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Project Advantages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443484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• Complete transparency: 100% open math, no hidden weights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• Zero server latency: runs fully client-side in the browser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• Numeric stability: protects against floating-point overflow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• Validated UI: built-in input boundary validation and presets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384048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402336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Known Limitations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92240" y="443484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• Illustrative parameters: not trained on clinical or actual students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• Fixed static weights: lacks backpropagation gradient updates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• Simplified feature set: real academic success has many factors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• Non-prescriptive: strictly for classroom teaching and exploration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CONCLUSION &amp; FUTURE SCOPE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Project Summary, Future Scope &amp; Questions &amp; Answers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12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</a:rPr>
              <a:t>Summary &amp; Key Takeaways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46634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93B"/>
                </a:solidFill>
              </a:rPr>
              <a:t>1. Demystifying Neural Operations: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Successfully proved how raw attributes transform into probability scores through sequential matrix arithmetic.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93B"/>
                </a:solidFill>
              </a:rPr>
              <a:t>2. Mathematical Rigor in Action: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Demonstrated practical ReLU rectification (killing negative noise) and numerically shifted Softmax.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93B"/>
                </a:solidFill>
              </a:rPr>
              <a:t>3. Educational Integrity: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Established that transparent, unpretentious simulation fosters genuine comprehension better than black-box hype.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</a:rPr>
              <a:t>Future Research &amp; Extensions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92240" y="210312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E293B"/>
                </a:solidFill>
              </a:rPr>
              <a:t>• Backpropagation Engine: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Implement SGD and Adam optimizers with live epoch-by-epoch loss curves.
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E293B"/>
                </a:solidFill>
              </a:rPr>
              <a:t>• Real Dataset Integration: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Train on anonymized institutional benchmarks with cross-validation.
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E293B"/>
                </a:solidFill>
              </a:rPr>
              <a:t>• Multi-Class Outputs: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Extend predictions from binary Pass/Fail to Letter Grades (A, B, C, D, F).
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E293B"/>
                </a:solidFill>
              </a:rPr>
              <a:t>• Model Explainability: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Add SHAP values to explain individual feature attribution.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4572000"/>
            <a:ext cx="5212080" cy="1463040"/>
          </a:xfrm>
          <a:prstGeom prst="round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47548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QUESTIONS &amp; ANSWERS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521208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Thank you! We welcome questions on forward propagation, network topology, and numerical evaluation.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2026-10-09T06:26:02Z</dcterms:created>
  <dcterms:modified xsi:type="dcterms:W3CDTF">2026-10-09T06:26:02Z</dcterms:modified>
</cp:coreProperties>
</file>